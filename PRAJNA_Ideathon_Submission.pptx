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 flipV="1">
            <a:off x="640079" y="1138035"/>
            <a:ext cx="5251837" cy="50685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92205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rPr sz="2000" dirty="0"/>
              <a:t>DIGITAL TECHNOLOGY &amp; CYBER 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F2C59"/>
                </a:solidFill>
                <a:latin typeface="Segoe UI Black"/>
              </a:defRPr>
            </a:pPr>
            <a:r>
              <a:t>PRAJNA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20040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A5568"/>
                </a:solidFill>
                <a:latin typeface="Segoe UI"/>
              </a:defRPr>
            </a:pPr>
            <a:r>
              <a:t>Physics-Informed Neural Network for</a:t>
            </a:r>
          </a:p>
          <a:p>
            <a:pPr algn="l">
              <a:spcBef>
                <a:spcPts val="300"/>
              </a:spcBef>
              <a:defRPr sz="2200" b="0">
                <a:solidFill>
                  <a:srgbClr val="4A5568"/>
                </a:solidFill>
                <a:latin typeface="Segoe UI"/>
              </a:defRPr>
            </a:pPr>
            <a:r>
              <a:t>Autonomous Reactor Safety Advisory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297680"/>
            <a:ext cx="1828800" cy="381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480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Segoe UI"/>
              </a:defRPr>
            </a:pPr>
            <a:r>
              <a:t>Haryana Ideathon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846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Deenbandhu Chhotu Ram University of Science &amp; Technology (DCRUST), Murthal, Sonipat, Haryana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212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18096"/>
                </a:solidFill>
                <a:latin typeface="Segoe UI"/>
              </a:defRPr>
            </a:pPr>
            <a:r>
              <a:t>Presented by: Jatin Kumar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C59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2743200" cy="381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Critical infrastructure faces two failure modes existing systems can't handle fast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920240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920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Segoe UI"/>
              </a:defRPr>
            </a:pPr>
            <a:r>
              <a:t>Fast Thermal-Hydraulic Transients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LOCA · Reactivity-Initiated Accidents · Steam Generator Tube Rupture · Station Blackout — emergencies that unfold in seconds, not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0292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2410C"/>
                </a:solidFill>
                <a:latin typeface="Segoe UI"/>
              </a:defRPr>
            </a:pPr>
            <a:r>
              <a:t>Sensor Tampering &amp; Decalibration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231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Falsified or drifting sensor data can silently mislead both human operators and standard monitoring software.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60704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2410C"/>
                </a:solidFill>
                <a:latin typeface="Segoe UI"/>
              </a:defRPr>
            </a:pPr>
            <a:r>
              <a:t>WHY EXISTING SYSTEMS FALL SHORT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Physics simulators (RELAP5, TRACE): highly accurate, but take seconds to minutes per timestep — too slow for a live emergency. Pure ML models: fast, but unconstrained by physics — their errors aren't bounded, so operators can't trust them in safety-critical loops.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C59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2743200" cy="381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A physics-grounded AI layer that watches, predicts, and advises — without ever touching the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560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71600" y="19202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Segoe UI"/>
              </a:defRPr>
            </a:pPr>
            <a:r>
              <a:t>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16-channel live telemetry:</a:t>
            </a:r>
            <a:br/>
            <a:r>
              <a:t>core temp, flux, pressure,</a:t>
            </a:r>
            <a:br/>
            <a:r>
              <a:t>flow, radiation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63240" y="2834640"/>
            <a:ext cx="228600" cy="2286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337560" y="1737360"/>
            <a:ext cx="2560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51960" y="1920240"/>
            <a:ext cx="502920" cy="50292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21A8"/>
                </a:solidFill>
                <a:latin typeface="Segoe UI"/>
              </a:defRPr>
            </a:pPr>
            <a:r>
              <a:t>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175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Physics-informed model</a:t>
            </a:r>
            <a:br/>
            <a:r>
              <a:t>predicts plant state</a:t>
            </a:r>
            <a:br/>
            <a:r>
              <a:t>evolution seconds ahead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834640"/>
            <a:ext cx="228600" cy="228600"/>
          </a:xfrm>
          <a:prstGeom prst="rightArrow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2560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132320" y="1920240"/>
            <a:ext cx="502920" cy="50292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5803D"/>
                </a:solidFill>
                <a:latin typeface="Segoe UI"/>
              </a:defRPr>
            </a:pPr>
            <a: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175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Maps trajectory to</a:t>
            </a:r>
            <a:br/>
            <a:r>
              <a:t>IAEA Emergency Operating</a:t>
            </a:r>
            <a:br/>
            <a:r>
              <a:t>Procedure (EOP) code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23960" y="2834640"/>
            <a:ext cx="228600" cy="228600"/>
          </a:xfrm>
          <a:prstGeom prst="rightArrow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098280" y="1737360"/>
            <a:ext cx="2560320" cy="2743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012680" y="1920240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560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2410C"/>
                </a:solidFill>
                <a:latin typeface="Segoe UI"/>
              </a:defRPr>
            </a:pPr>
            <a:r>
              <a:t>ADVISE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017520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Time-to-threshold</a:t>
            </a:r>
            <a:br/>
            <a:r>
              <a:t>countdown + recommended</a:t>
            </a:r>
            <a:br/>
            <a:r>
              <a:t>action to operator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754880"/>
            <a:ext cx="1060704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4846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  <a:latin typeface="Segoe UI"/>
              </a:defRPr>
            </a:pPr>
            <a:r>
              <a:t>✓ Zero-actuation by design — PRAJNA advises the human operator. It never issues a command to a physical control system.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C59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2743200" cy="381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Two-tier design: a large model that learns, a tiny model that runs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3035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21A8"/>
                </a:solidFill>
                <a:latin typeface="Segoe UI"/>
              </a:defRPr>
            </a:pPr>
            <a:r>
              <a:t>FOUNDATION MODEL ·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Mamba-2 selective state-space backbone +</a:t>
            </a:r>
            <a:br/>
            <a:r>
              <a:t>Fourier Neural Operator (3D core field resolution)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433"/>
                </a:solidFill>
                <a:latin typeface="Segoe UI"/>
              </a:defRPr>
            </a:pPr>
            <a:r>
              <a:t>264.7M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578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Segoe UI"/>
              </a:defRPr>
            </a:pPr>
            <a:r>
              <a:t>parameters · 1.01 GB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  <a:latin typeface="Segoe UI"/>
              </a:defRPr>
            </a:pPr>
            <a:r>
              <a:t>↓ knowledge distillation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7680" y="4353339"/>
            <a:ext cx="53035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2000" y="441098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5803D"/>
                </a:solidFill>
                <a:latin typeface="Segoe UI"/>
              </a:defRPr>
            </a:pPr>
            <a:r>
              <a:rPr dirty="0"/>
              <a:t>DISTILLED EDGE MODEL ·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4096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rPr dirty="0"/>
              <a:t>INT8-quantized ONNX graph — runs on CPU, no GPU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24007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433"/>
                </a:solidFill>
                <a:latin typeface="Segoe UI"/>
              </a:defRPr>
            </a:pPr>
            <a:r>
              <a:rPr dirty="0"/>
              <a:t>30,577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39317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Segoe UI"/>
              </a:defRPr>
            </a:pPr>
            <a:r>
              <a:rPr dirty="0"/>
              <a:t>parameters · 47.16 KB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486400" cy="42062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C59"/>
                </a:solidFill>
                <a:latin typeface="Segoe UI"/>
              </a:defRPr>
            </a:pPr>
            <a:r>
              <a:t>CYBERSECURITY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2743200" cy="381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A read-only advisory system, physically incapable of being turned into an attack 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920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DC2626"/>
                </a:solidFill>
                <a:latin typeface="Segoe UI"/>
              </a:defRPr>
            </a:pPr>
            <a:r>
              <a:t>Plant</a:t>
            </a:r>
            <a:br/>
            <a:r>
              <a:t>Sensors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1737360"/>
            <a:ext cx="1920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C2410C"/>
                </a:solidFill>
                <a:latin typeface="Segoe UI"/>
              </a:defRPr>
            </a:pPr>
            <a:r>
              <a:t>Optical Data</a:t>
            </a:r>
            <a:br/>
            <a:r>
              <a:t>Diode (1-Way)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64592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1737360"/>
            <a:ext cx="1920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D9488"/>
                </a:solidFill>
                <a:latin typeface="Segoe UI"/>
              </a:defRPr>
            </a:pPr>
            <a:r>
              <a:t>PRAJNA</a:t>
            </a:r>
            <a:br/>
            <a:r>
              <a:t>Advisory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645920"/>
            <a:ext cx="21031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1737360"/>
            <a:ext cx="19202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5803D"/>
                </a:solidFill>
                <a:latin typeface="Segoe UI"/>
              </a:defRPr>
            </a:pPr>
            <a:r>
              <a:t>Operator</a:t>
            </a:r>
            <a:br/>
            <a:r>
              <a:t>Display Only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06040" y="2011680"/>
            <a:ext cx="320040" cy="320040"/>
          </a:xfrm>
          <a:prstGeom prst="rightArrow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/>
          <p:cNvSpPr/>
          <p:nvPr/>
        </p:nvSpPr>
        <p:spPr>
          <a:xfrm>
            <a:off x="5074920" y="2011680"/>
            <a:ext cx="320040" cy="320040"/>
          </a:xfrm>
          <a:prstGeom prst="rightArrow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7543800" y="2011680"/>
            <a:ext cx="457200" cy="3200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5568"/>
                </a:solidFill>
                <a:latin typeface="Segoe UI"/>
              </a:defRPr>
            </a:pPr>
            <a:r>
              <a:t>Data flows strictly left to right. PRAJNA has no physical or logical path back to actuators — hardware-enforced.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66160"/>
            <a:ext cx="50292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2410C"/>
                </a:solidFill>
                <a:latin typeface="Segoe UI"/>
              </a:defRPr>
            </a:pPr>
            <a:r>
              <a:t>Hardware Root of Trust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44805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TPM 2.0 measured boot verifies system integrity before PRAJNA is trusted to advise — tampering with the software stack is detectable before the system goes live.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566160"/>
            <a:ext cx="502920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657600"/>
            <a:ext cx="4389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21A8"/>
                </a:solidFill>
                <a:latin typeface="Segoe UI"/>
              </a:defRPr>
            </a:pPr>
            <a:r>
              <a:t>Physics as a Tamper Detector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069080"/>
            <a:ext cx="4480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Sensor data that violates energy-balance physics spikes the model's residual loss — flagging decalibration or falsified telemetry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914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C59"/>
                </a:solidFill>
                <a:latin typeface="Segoe UI"/>
              </a:defRPr>
            </a:pPr>
            <a:r>
              <a:t>TRAINING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2743200" cy="381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10-Epoch Training on CUDA GPU — 264.7M Parameter Foundation Model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669280" cy="23774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5669280" cy="23774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3931920"/>
            <a:ext cx="5669280" cy="2286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023360"/>
            <a:ext cx="2743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803D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433"/>
                </a:solidFill>
                <a:latin typeface="Segoe UI"/>
              </a:defRPr>
            </a:pPr>
            <a:r>
              <a:t>✓ 99.65% Accuracy</a:t>
            </a:r>
          </a:p>
          <a:p>
            <a:pPr algn="l">
              <a:spcBef>
                <a:spcPts val="300"/>
              </a:spcBef>
              <a:defRPr sz="1400" b="1">
                <a:solidFill>
                  <a:srgbClr val="1E2433"/>
                </a:solidFill>
                <a:latin typeface="Segoe UI"/>
              </a:defRPr>
            </a:pPr>
            <a:r>
              <a:t>✓ 0.27 Final Loss</a:t>
            </a:r>
          </a:p>
          <a:p>
            <a:pPr algn="l">
              <a:spcBef>
                <a:spcPts val="300"/>
              </a:spcBef>
              <a:defRPr sz="1400" b="1">
                <a:solidFill>
                  <a:srgbClr val="1E2433"/>
                </a:solidFill>
                <a:latin typeface="Segoe UI"/>
              </a:defRPr>
            </a:pPr>
            <a:r>
              <a:t>✓ ~9.6s MAE</a:t>
            </a:r>
          </a:p>
          <a:p>
            <a:pPr algn="l">
              <a:spcBef>
                <a:spcPts val="300"/>
              </a:spcBef>
              <a:defRPr sz="1400" b="1">
                <a:solidFill>
                  <a:srgbClr val="1E2433"/>
                </a:solidFill>
                <a:latin typeface="Segoe UI"/>
              </a:defRPr>
            </a:pPr>
            <a:r>
              <a:t>✓ 2.3h Training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C59"/>
                </a:solidFill>
                <a:latin typeface="Segoe UI"/>
              </a:defRPr>
            </a:pPr>
            <a:r>
              <a:t>VERIFIED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2743200" cy="381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Measured on-disk and via live benchmark — not projected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Segoe UI"/>
              </a:defRPr>
            </a:pPr>
            <a:r>
              <a:t>47.16 KB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Edge model size (INT8 ONNX)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39" y="146304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19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B21A8"/>
                </a:solidFill>
                <a:latin typeface="Segoe UI"/>
              </a:defRPr>
            </a:pPr>
            <a:r>
              <a:t>≈ 44 µs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19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P50 CPU inference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6304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59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803D"/>
                </a:solidFill>
                <a:latin typeface="Segoe UI"/>
              </a:defRPr>
            </a:pPr>
            <a:r>
              <a:t>22,000+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103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Inferences/sec throughput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C2410C"/>
                </a:solidFill>
                <a:latin typeface="Segoe UI"/>
              </a:defRPr>
            </a:pPr>
            <a:r>
              <a:t>R² = 0.93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Regression fit, 16 channels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39" y="310896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19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9488"/>
                </a:solidFill>
                <a:latin typeface="Segoe UI"/>
              </a:defRPr>
            </a:pPr>
            <a:r>
              <a:t>99.0%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3749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EOP classification accuracy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3108960"/>
            <a:ext cx="34747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59" y="32004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803D"/>
                </a:solidFill>
                <a:latin typeface="Segoe UI"/>
              </a:defRPr>
            </a:pPr>
            <a:r>
              <a:t>6 /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37490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Pipeline unit tests passing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54880"/>
            <a:ext cx="5486400" cy="1554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7920" y="5029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18096"/>
                </a:solidFill>
                <a:latin typeface="Segoe UI"/>
              </a:defRPr>
            </a:pPr>
            <a:r>
              <a:t>Note: Edge model shows 99.0% EOP accuracy; the larger foundation "teacher" model reaches 100% on the same set.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C59"/>
                </a:solidFill>
                <a:latin typeface="Segoe UI"/>
              </a:defRPr>
            </a:pPr>
            <a:r>
              <a:t>PERFORMANCE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2743200" cy="381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Multi-dimensional capability assessment across all critical metrics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029200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463040"/>
            <a:ext cx="59436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C59"/>
                </a:solidFill>
                <a:latin typeface="Segoe UI"/>
              </a:defRPr>
            </a:pPr>
            <a:r>
              <a:t>IMPACT &amp;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2743200" cy="381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Built for nuclear-grade stakes, designed to generalize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  <a:latin typeface="Segoe UI"/>
              </a:defRPr>
            </a:pPr>
            <a:r>
              <a:t>WHO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• Plant operators get earlier, physics-verified warning of fast-developing transients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4A5568"/>
                </a:solidFill>
                <a:latin typeface="Segoe UI"/>
              </a:defRPr>
            </a:pPr>
            <a:r>
              <a:t>• Regulators gain a tamper-evident advisory layer that logs and explains every alert</a:t>
            </a:r>
          </a:p>
          <a:p>
            <a:pPr algn="l">
              <a:spcBef>
                <a:spcPts val="500"/>
              </a:spcBef>
              <a:defRPr sz="1400" b="0">
                <a:solidFill>
                  <a:srgbClr val="4A5568"/>
                </a:solidFill>
                <a:latin typeface="Segoe UI"/>
              </a:defRPr>
            </a:pPr>
            <a:r>
              <a:t>• Nearby communities benefit indirectly from an added, independent safety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Segoe UI"/>
              </a:defRPr>
            </a:pPr>
            <a:r>
              <a:t>BEYOND NUCLEAR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The same physics-informed-model + zero-actuation-advisory pattern applies to any high-consequence cyber-physical system: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2834640"/>
            <a:ext cx="411480" cy="4114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Segoe UI"/>
              </a:defRPr>
            </a:pPr>
            <a:r>
              <a:t>Power</a:t>
            </a:r>
            <a:br/>
            <a:r>
              <a:t>Grids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2834640"/>
            <a:ext cx="411480" cy="41148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2918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2410C"/>
                </a:solidFill>
                <a:latin typeface="Segoe UI"/>
              </a:defRPr>
            </a:pPr>
            <a:r>
              <a:t>Chemical</a:t>
            </a:r>
            <a:br/>
            <a:r>
              <a:t>Plants</a:t>
            </a:r>
          </a:p>
        </p:txBody>
      </p:sp>
      <p:sp>
        <p:nvSpPr>
          <p:cNvPr id="15" name="Oval 14"/>
          <p:cNvSpPr/>
          <p:nvPr/>
        </p:nvSpPr>
        <p:spPr>
          <a:xfrm>
            <a:off x="8869680" y="2834640"/>
            <a:ext cx="411480" cy="41148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2918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803D"/>
                </a:solidFill>
                <a:latin typeface="Segoe UI"/>
              </a:defRPr>
            </a:pPr>
            <a:r>
              <a:t>Water</a:t>
            </a:r>
            <a:br/>
            <a:r>
              <a:t>Treatment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2834640"/>
            <a:ext cx="411480" cy="41148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2918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B21A8"/>
                </a:solidFill>
                <a:latin typeface="Segoe UI"/>
              </a:defRPr>
            </a:pPr>
            <a:r>
              <a:t>Industrial</a:t>
            </a:r>
            <a:br/>
            <a:r>
              <a:t>MSMEs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97680"/>
            <a:ext cx="1106424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2410C"/>
                </a:solidFill>
                <a:latin typeface="Segoe UI"/>
              </a:defRPr>
            </a:pPr>
            <a:r>
              <a:t>HOW TO QUANTIFY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Once piloted, impact is measurable as: seconds of extra operator lead-time before a threshold breach, number of sensor-tampering events caught, and reduction in false-alarm rates vs. legacy monitors.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2C59"/>
                </a:solidFill>
                <a:latin typeface="Segoe UI"/>
              </a:defRPr>
            </a:pPr>
            <a:r>
              <a:t>STATUS &amp;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2743200" cy="381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12 months in — a working system, honestly still in progress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803D"/>
                </a:solidFill>
                <a:latin typeface="Segoe UI"/>
              </a:defRPr>
            </a:pPr>
            <a:r>
              <a:t>BUILT &amp; VERIFIED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433"/>
                </a:solidFill>
                <a:latin typeface="Segoe UI"/>
              </a:defRPr>
            </a:pPr>
            <a:r>
              <a:t>✓  264.7M-parameter foundation PINN checkpoint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E2433"/>
                </a:solidFill>
                <a:latin typeface="Segoe UI"/>
              </a:defRPr>
            </a:pPr>
            <a:r>
              <a:t>✓  30,577-parameter distilled INT8 edge model (ONNX)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E2433"/>
                </a:solidFill>
                <a:latin typeface="Segoe UI"/>
              </a:defRPr>
            </a:pPr>
            <a:r>
              <a:t>✓  Native JS inference runtime for the edge model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E2433"/>
                </a:solidFill>
                <a:latin typeface="Segoe UI"/>
              </a:defRPr>
            </a:pPr>
            <a:r>
              <a:t>✓  120 FPS 3D digital-twin dashboard with live SHAP overlays</a:t>
            </a:r>
          </a:p>
          <a:p>
            <a:pPr algn="l">
              <a:spcBef>
                <a:spcPts val="600"/>
              </a:spcBef>
              <a:defRPr sz="1500" b="0">
                <a:solidFill>
                  <a:srgbClr val="1E2433"/>
                </a:solidFill>
                <a:latin typeface="Segoe UI"/>
              </a:defRPr>
            </a:pPr>
            <a:r>
              <a:t>✓  Automated test suite — 6/6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54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21A8"/>
                </a:solidFill>
                <a:latin typeface="Segoe UI"/>
              </a:defRPr>
            </a:pPr>
            <a:r>
              <a:t>NEXT MILESTONES</a:t>
            </a:r>
          </a:p>
        </p:txBody>
      </p:sp>
      <p:sp>
        <p:nvSpPr>
          <p:cNvPr id="10" name="Oval 9"/>
          <p:cNvSpPr/>
          <p:nvPr/>
        </p:nvSpPr>
        <p:spPr>
          <a:xfrm>
            <a:off x="6492240" y="2057400"/>
            <a:ext cx="118872" cy="11887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7960" y="2176272"/>
            <a:ext cx="25400" cy="1005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20116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Segoe UI"/>
              </a:defRPr>
            </a:pPr>
            <a:r>
              <a:t>▸  Hardware-in-the-loop (HIL) testing</a:t>
            </a:r>
            <a:br/>
            <a:r>
              <a:t>   against a physical simulator</a:t>
            </a:r>
          </a:p>
        </p:txBody>
      </p:sp>
      <p:sp>
        <p:nvSpPr>
          <p:cNvPr id="13" name="Oval 12"/>
          <p:cNvSpPr/>
          <p:nvPr/>
        </p:nvSpPr>
        <p:spPr>
          <a:xfrm>
            <a:off x="6492240" y="3246120"/>
            <a:ext cx="118872" cy="11887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3364992"/>
            <a:ext cx="25400" cy="10058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3200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Segoe UI"/>
              </a:defRPr>
            </a:pPr>
            <a:r>
              <a:t>▸  AERB software qualification</a:t>
            </a:r>
            <a:br/>
            <a:r>
              <a:t>   pathway (AERB/SG/D-25)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4434840"/>
            <a:ext cx="118872" cy="118872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20840" y="4389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5568"/>
                </a:solidFill>
                <a:latin typeface="Segoe UI"/>
              </a:defRPr>
            </a:pPr>
            <a:r>
              <a:t>▸  Identify and engage a candidate</a:t>
            </a:r>
            <a:br/>
            <a:r>
              <a:t>   pilot site — e.g. a PHWR facility</a:t>
            </a:r>
            <a:br/>
            <a:r>
              <a:t>   in Haryana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  <a:latin typeface="Segoe UI"/>
              </a:defRPr>
            </a:pPr>
            <a:r>
              <a:t>STRATEGIC VALUE FOR HARYANA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713232"/>
            <a:ext cx="3657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433"/>
                </a:solidFill>
                <a:latin typeface="Segoe UI"/>
              </a:defRPr>
            </a:pPr>
            <a:r>
              <a:t>Direct deployment capability for Haryana's critical energy infrastructure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9488"/>
                </a:solidFill>
                <a:latin typeface="Segoe UI"/>
              </a:defRPr>
            </a:pPr>
            <a:r>
              <a:t>⚛ Nuclear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Gorakhpur Haryana Anu Vidyut Pariyojana (GHAVP)</a:t>
            </a:r>
            <a:br/>
            <a:r>
              <a:t>4 × 700 MW PHWRs — ₹20,000+ Crore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21A8"/>
                </a:solidFill>
                <a:latin typeface="Segoe UI"/>
              </a:defRPr>
            </a:pPr>
            <a:r>
              <a:t>⚡ Grid Stability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MSME Industrial Belts: Gurugram, Faridabad,</a:t>
            </a:r>
            <a:br/>
            <a:r>
              <a:t>Panipat, Sonipat — 47 KB edge model on sub-stations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4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803D"/>
                </a:solidFill>
                <a:latin typeface="Segoe UI"/>
              </a:defRPr>
            </a:pPr>
            <a:r>
              <a:t>🛡 Zero-Trust Cyber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100% read-only hardware diode architecture</a:t>
            </a:r>
            <a:br/>
            <a:r>
              <a:t>protects critical energy infrastructure from attacks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40"/>
            <a:ext cx="530352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45309"/>
                </a:solidFill>
                <a:latin typeface="Segoe UI"/>
              </a:defRPr>
            </a:pPr>
            <a:r>
              <a:t>🇮🇳 Global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568"/>
                </a:solidFill>
                <a:latin typeface="Segoe UI"/>
              </a:defRPr>
            </a:pPr>
            <a:r>
              <a:t>Developed at DCRUST, Murthal — positions Haryana</a:t>
            </a:r>
            <a:br/>
            <a:r>
              <a:t>as AI &amp; Energy Security pioneer under Mission 2047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2743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2743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772400" y="2743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2743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2743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0" y="2743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0" y="2743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0" y="2743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515600" y="2743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972800" y="2743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58000" y="7315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315200" y="7315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0" y="7315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7315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0" y="7315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144000" y="7315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0" y="7315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058400" y="7315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15600" y="7315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972800" y="7315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0" y="11887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0" y="11887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72400" y="11887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600" y="11887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686800" y="11887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44000" y="11887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01200" y="11887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58400" y="11887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515600" y="11887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972800" y="11887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858000" y="16459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315200" y="16459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772400" y="16459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229600" y="16459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686800" y="16459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144000" y="16459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01200" y="16459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058400" y="16459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15600" y="16459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972800" y="16459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6858000" y="21031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315200" y="21031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72400" y="21031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229600" y="21031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686800" y="21031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144000" y="21031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601200" y="21031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058400" y="21031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515600" y="2103120"/>
            <a:ext cx="38100" cy="38100"/>
          </a:xfrm>
          <a:prstGeom prst="ellipse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972800" y="2103120"/>
            <a:ext cx="38100" cy="381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114800" y="1828800"/>
            <a:ext cx="4114800" cy="508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F2C59"/>
                </a:solidFill>
                <a:latin typeface="Segoe UI Black"/>
              </a:defRPr>
            </a:pPr>
            <a:r>
              <a:t>Thank You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D9488"/>
                </a:solidFill>
                <a:latin typeface="Segoe UI"/>
              </a:defRPr>
            </a:pPr>
            <a:r>
              <a:t>PRAJNA — physics-grounded safety advisory for critical infrastructure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0" y="3749039"/>
            <a:ext cx="2286000" cy="381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2433"/>
                </a:solidFill>
                <a:latin typeface="Segoe UI"/>
              </a:defRPr>
            </a:pPr>
            <a:r>
              <a:t>Jatin Kumar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4434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0D9488"/>
                </a:solidFill>
                <a:latin typeface="Segoe UI"/>
              </a:defRPr>
            </a:pPr>
            <a:r>
              <a:t>jatinbaberwal230@gmail.com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4754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A5568"/>
                </a:solidFill>
                <a:latin typeface="Segoe UI"/>
              </a:defRPr>
            </a:pPr>
            <a:r>
              <a:t>DCRUST, Murthal, Sonipat, Haryana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57200" y="64739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8096"/>
                </a:solidFill>
                <a:latin typeface="Segoe UI"/>
              </a:defRPr>
            </a:pPr>
            <a:r>
              <a:t>PRAJNA  |  Haryana Ideathon 2026  |  Digital Technology &amp; Cyber Security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18096"/>
                </a:solidFill>
                <a:latin typeface="Segoe U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1028</Words>
  <Application>Microsoft Office PowerPoint</Application>
  <PresentationFormat>Widescreen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Prince Kumar</cp:lastModifiedBy>
  <cp:revision>2</cp:revision>
  <dcterms:created xsi:type="dcterms:W3CDTF">2013-01-27T09:14:16Z</dcterms:created>
  <dcterms:modified xsi:type="dcterms:W3CDTF">2026-08-20T17:43:21Z</dcterms:modified>
  <cp:category/>
</cp:coreProperties>
</file>